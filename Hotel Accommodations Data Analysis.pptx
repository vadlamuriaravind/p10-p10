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E7CF-BF2D-5DAA-A2F9-7C107E906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E7CA9-A537-6905-B33A-974420F86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C0A1A-53F1-7B72-0B94-9F8E386A3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DEA5-6259-4071-ADDF-F2EF4C81EBE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E0C88-0BBA-BCE0-EAE8-0FC88313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0E4B1-B1B2-7F06-5DFF-8ACBB270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55E2C-52B2-40EB-B126-B6829B38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34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BA9A-5C4E-EFF6-5F42-0B220F52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FD08A-50AC-D994-48F8-DC384315E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63776-1441-19F5-BD75-112AF183A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DEA5-6259-4071-ADDF-F2EF4C81EBE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18E2D-4F86-5006-0864-3C9CDAD2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47EB5-4051-C48B-2EDD-4B8C3B9F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55E2C-52B2-40EB-B126-B6829B38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07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299FA-9CC7-99FA-C0AB-0C861BF2F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F9369-4CB0-7B5B-45E2-F080BC952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81F3A-6A41-DC7F-88B1-3AE240C9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DEA5-6259-4071-ADDF-F2EF4C81EBE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02820-E1FF-5462-ABF7-95ACEE60D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EC94-522F-CC86-C69C-FE3E0150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55E2C-52B2-40EB-B126-B6829B38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24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2F3E-08FC-1989-BF50-A08084CFE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59F6A-D6EF-F30A-C956-E41097A9A6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E2CC2-2988-8CCD-DC2A-94DDF976F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62A03-6AF8-661C-8083-F09FEDC1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DEA5-6259-4071-ADDF-F2EF4C81EBE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D10D9-ADC8-0ECC-6D69-5C2A7D3DC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3EFE7-BA0A-86D6-1C44-AF3C12A2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55E2C-52B2-40EB-B126-B6829B38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61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2290-467A-81B8-0196-70E01E638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ABBB8-F20F-21B5-0350-C933A9202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4B173-2021-A298-D3EE-6ED957D25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927377-4964-3834-194E-705B951AE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B9BEC-3A29-417D-F2B7-2B6E7612C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CB17F-73DC-F0BD-1578-C92D4E0B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DEA5-6259-4071-ADDF-F2EF4C81EBE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AA7FE7-2C14-D45E-D60B-BAF68DBA6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E48830-9230-039A-4540-C2C638BD1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55E2C-52B2-40EB-B126-B6829B38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FAC97-72C3-D5EB-7E3B-DB667CA61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EEA117-ADA8-E987-70E5-46C70B9CB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DEA5-6259-4071-ADDF-F2EF4C81EBE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0D8D4-90CD-2EAC-3DE4-250C4288A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B83F5-DCCE-FACD-1E7A-05F1F69A3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55E2C-52B2-40EB-B126-B6829B38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0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FCABCA-BB7C-F4A4-2766-C04503CC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DEA5-6259-4071-ADDF-F2EF4C81EBE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CB7F3-064A-BB96-95DD-A8638804D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E4F0E-AEAB-7D61-F04D-CE79C856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55E2C-52B2-40EB-B126-B6829B38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44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8E05F-924F-DA94-1D75-CC5152FD6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F51B1-A5AE-C37C-9995-D6F7DF260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A2BEF-CDD3-379C-B4A1-2EF9EA74C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2B11E-D6BE-6420-397D-62DE8253A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DEA5-6259-4071-ADDF-F2EF4C81EBE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8050C-2C0A-0BC3-D42D-17702943A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2FC3C-FE20-5443-3A29-CF35C373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55E2C-52B2-40EB-B126-B6829B38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03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72D1-7016-50C4-88E6-F9F4475B2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80D5E8-8545-7B98-B0D9-9805D56D0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0D443-7213-B44B-CDB7-DF20A6CE2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46013-5350-92DD-9450-4472D9D62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DEA5-6259-4071-ADDF-F2EF4C81EBE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79EBC-79D5-23D7-254D-48FC7202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04A95-1614-7E3C-02B6-D453A59C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55E2C-52B2-40EB-B126-B6829B38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52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4138-2529-21C9-16E6-4A4D71F86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CB6EE-C1BC-49B9-BB75-532301AE8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40D4E-51C5-FA53-D36D-CBF77528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DEA5-6259-4071-ADDF-F2EF4C81EBE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AF18A-C90A-4B44-E71C-AB9D9932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B25C9-A166-8A70-F48B-4F240E587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55E2C-52B2-40EB-B126-B6829B38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52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7CCEF0-172B-0A09-5DA6-571339C396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0D6B3-2D68-6E3F-A470-60C26294C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8A92C-8C99-5F43-88FF-F456D41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DEA5-6259-4071-ADDF-F2EF4C81EBE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785A1-8B90-B275-1DE0-8C85467E5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7128-0837-2657-03A5-A49D761F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55E2C-52B2-40EB-B126-B6829B38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73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9A2DBB-70DA-1D89-B92F-73AD8D7A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F0F5C-3215-6321-E5B4-A60F990FF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58395-CF8E-4C07-C335-2C8180421D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6DEA5-6259-4071-ADDF-F2EF4C81EBE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A6FC4-33F7-ED80-2562-FF7AD61096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E63BB-C36C-A5EF-FF88-3715E3E5C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55E2C-52B2-40EB-B126-B6829B38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6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dlamuriaravind" TargetMode="External"/><Relationship Id="rId2" Type="http://schemas.openxmlformats.org/officeDocument/2006/relationships/hyperlink" Target="https://www.google.com/url?q=https%3A%2F%2Fwww.linkedin.com%2Fin%2Fvadlamuri-sohan-aravind-493419288%2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FDB89-3ABC-B05B-82B5-A44342FCD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862" y="1217672"/>
            <a:ext cx="10097729" cy="4676231"/>
          </a:xfrm>
        </p:spPr>
        <p:txBody>
          <a:bodyPr>
            <a:normAutofit/>
          </a:bodyPr>
          <a:lstStyle/>
          <a:p>
            <a:r>
              <a:rPr lang="en-US" sz="4400" b="1" dirty="0"/>
              <a:t>Project Title: Hotel Accommodations Data Analysis</a:t>
            </a:r>
            <a:br>
              <a:rPr lang="en-US" sz="4400" b="1" dirty="0"/>
            </a:br>
            <a:r>
              <a:rPr lang="en-US" sz="4400" b="1" dirty="0"/>
              <a:t>Your Name: </a:t>
            </a:r>
            <a:r>
              <a:rPr lang="en-US" sz="4400" b="1" dirty="0" err="1"/>
              <a:t>Vadlamuri</a:t>
            </a:r>
            <a:r>
              <a:rPr lang="en-US" sz="4400" b="1" dirty="0"/>
              <a:t> Sohan Aravind</a:t>
            </a:r>
            <a:br>
              <a:rPr lang="en-US" sz="4400" b="1" dirty="0"/>
            </a:br>
            <a:r>
              <a:rPr lang="en-US" sz="4400" b="1" dirty="0"/>
              <a:t>Background: </a:t>
            </a:r>
            <a:r>
              <a:rPr lang="en-US" sz="3600" b="1" dirty="0">
                <a:latin typeface="Calibri Light (Headings)"/>
              </a:rPr>
              <a:t>MBA in Data Science</a:t>
            </a:r>
            <a:br>
              <a:rPr lang="en-US" sz="4400" b="1" dirty="0"/>
            </a:br>
            <a:br>
              <a:rPr lang="en-US" sz="4400" b="1" dirty="0"/>
            </a:b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984109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2054-06D7-F0F4-7323-16E7A149E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469F5-C2C5-47AB-2B5E-287CC049C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713" y="1616903"/>
            <a:ext cx="10515600" cy="4351338"/>
          </a:xfrm>
        </p:spPr>
        <p:txBody>
          <a:bodyPr/>
          <a:lstStyle/>
          <a:p>
            <a:r>
              <a:rPr lang="en-US" b="1" dirty="0"/>
              <a:t>Background:</a:t>
            </a:r>
            <a:r>
              <a:rPr lang="en-US" dirty="0"/>
              <a:t> MBA in Data Science</a:t>
            </a:r>
          </a:p>
          <a:p>
            <a:r>
              <a:rPr lang="en-US" b="1" dirty="0"/>
              <a:t>Why I want to learn Data Science:</a:t>
            </a:r>
            <a:r>
              <a:rPr lang="en-US" dirty="0"/>
              <a:t> I am very much interested in Business Analytics with Data Science skills for better Managerial Decision Making</a:t>
            </a:r>
          </a:p>
          <a:p>
            <a:r>
              <a:rPr lang="en-US" b="1" dirty="0"/>
              <a:t>Work Experience:</a:t>
            </a:r>
            <a:r>
              <a:rPr lang="en-US" dirty="0"/>
              <a:t> Did internship with </a:t>
            </a:r>
            <a:r>
              <a:rPr lang="en-US" dirty="0" err="1"/>
              <a:t>DataValley</a:t>
            </a:r>
            <a:r>
              <a:rPr lang="en-US" dirty="0"/>
              <a:t> and 360digiTMG</a:t>
            </a:r>
          </a:p>
          <a:p>
            <a:r>
              <a:rPr lang="en-US" b="1" dirty="0"/>
              <a:t>LinkedIn:</a:t>
            </a:r>
            <a:r>
              <a:rPr lang="en-US" dirty="0"/>
              <a:t> </a:t>
            </a:r>
            <a:r>
              <a:rPr lang="en-US" dirty="0">
                <a:hlinkClick r:id="rId2"/>
              </a:rPr>
              <a:t>https://www.linkedin.com/in/vadlamuri-sohan-aravind-493419288/</a:t>
            </a:r>
            <a:endParaRPr lang="en-US" dirty="0"/>
          </a:p>
          <a:p>
            <a:r>
              <a:rPr lang="en-US" b="1" dirty="0"/>
              <a:t>GitHub:</a:t>
            </a:r>
            <a:r>
              <a:rPr lang="en-US" dirty="0"/>
              <a:t> </a:t>
            </a:r>
            <a:r>
              <a:rPr lang="en-US" dirty="0">
                <a:hlinkClick r:id="rId3"/>
              </a:rPr>
              <a:t>https://github.com/vadlamuriaravind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110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FB12A-C1AD-D8FD-F740-B2326468A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 /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CFA72-3120-5168-F470-4976E951A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Problem Statement:</a:t>
            </a:r>
          </a:p>
          <a:p>
            <a:pPr marL="0" indent="0">
              <a:buNone/>
            </a:pPr>
            <a:r>
              <a:rPr lang="en-US" dirty="0"/>
              <a:t>Analyze hotel accommodations data to understand pricing trends, ratings, and amenities offered across different locations, </a:t>
            </a:r>
          </a:p>
          <a:p>
            <a:pPr marL="0" indent="0">
              <a:buNone/>
            </a:pPr>
            <a:r>
              <a:rPr lang="en-US" dirty="0"/>
              <a:t>and identify patterns for high-rated hotels.</a:t>
            </a:r>
          </a:p>
          <a:p>
            <a:pPr marL="0" indent="0">
              <a:buNone/>
            </a:pPr>
            <a:r>
              <a:rPr lang="en-US" b="1" dirty="0"/>
              <a:t>Use Case:</a:t>
            </a:r>
          </a:p>
          <a:p>
            <a:pPr marL="0" indent="0">
              <a:buNone/>
            </a:pPr>
            <a:r>
              <a:rPr lang="en-US" dirty="0"/>
              <a:t>Hotel Accommodations – analyzing hotel prices, ratings, amenities, star ratings, and locations.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77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05F59-F468-2597-8C15-FFDD558E7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Scraping / Dataset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94DEE-7E09-4C38-7036-1274BE2CF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Web Scraping / Dataset: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In real projects, hotel data can be scraped from:</a:t>
            </a:r>
          </a:p>
          <a:p>
            <a:pPr marL="0" indent="0">
              <a:buNone/>
            </a:pPr>
            <a:r>
              <a:rPr lang="en-US" dirty="0"/>
              <a:t>  - Booking.com: https://www.booking.com/</a:t>
            </a:r>
          </a:p>
          <a:p>
            <a:pPr marL="0" indent="0">
              <a:buNone/>
            </a:pPr>
            <a:r>
              <a:rPr lang="en-US" dirty="0"/>
              <a:t>  - TripAdvisor: https://www.tripadvisor.com/Hotels</a:t>
            </a:r>
          </a:p>
          <a:p>
            <a:pPr marL="0" indent="0">
              <a:buNone/>
            </a:pPr>
            <a:r>
              <a:rPr lang="en-US" dirty="0"/>
              <a:t>  - Hotels.com: https://www.hotels.com/</a:t>
            </a:r>
          </a:p>
          <a:p>
            <a:pPr marL="0" indent="0">
              <a:buNone/>
            </a:pPr>
            <a:r>
              <a:rPr lang="en-US" dirty="0"/>
              <a:t>  - Agoda.com: https://www.agoda.com/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For this project, we are using a synthetic dataset (hotel_accommodations_500.csv)</a:t>
            </a:r>
          </a:p>
          <a:p>
            <a:pPr marL="0" indent="0">
              <a:buNone/>
            </a:pPr>
            <a:r>
              <a:rPr lang="en-US" dirty="0"/>
              <a:t>  - 500 rows</a:t>
            </a:r>
          </a:p>
          <a:p>
            <a:pPr marL="0" indent="0">
              <a:buNone/>
            </a:pPr>
            <a:r>
              <a:rPr lang="en-US" dirty="0"/>
              <a:t>  - 10 columns: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Hotel_Name</a:t>
            </a:r>
            <a:r>
              <a:rPr lang="en-US" dirty="0"/>
              <a:t>, Location, </a:t>
            </a:r>
            <a:r>
              <a:rPr lang="en-US" dirty="0" err="1"/>
              <a:t>Price_per_night</a:t>
            </a:r>
            <a:r>
              <a:rPr lang="en-US" dirty="0"/>
              <a:t>, Rating, </a:t>
            </a:r>
            <a:r>
              <a:rPr lang="en-US" dirty="0" err="1"/>
              <a:t>Number_of_Reviews</a:t>
            </a:r>
            <a:r>
              <a:rPr lang="en-US" dirty="0"/>
              <a:t>, </a:t>
            </a:r>
            <a:r>
              <a:rPr lang="en-US" dirty="0" err="1"/>
              <a:t>Star_Rating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Amenities, </a:t>
            </a:r>
            <a:r>
              <a:rPr lang="en-US" dirty="0" err="1"/>
              <a:t>Distance_from_CityCenter_km</a:t>
            </a:r>
            <a:r>
              <a:rPr lang="en-US" dirty="0"/>
              <a:t>, </a:t>
            </a:r>
            <a:r>
              <a:rPr lang="en-US" dirty="0" err="1"/>
              <a:t>Room_Type</a:t>
            </a:r>
            <a:r>
              <a:rPr lang="en-US" dirty="0"/>
              <a:t>, Availability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641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35593-85B7-E258-B21E-375B81783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B59FD-2196-E16E-E3AA-C4A82A4AF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26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- Number of rows: 500</a:t>
            </a:r>
          </a:p>
          <a:p>
            <a:pPr marL="0" indent="0">
              <a:buNone/>
            </a:pPr>
            <a:r>
              <a:rPr lang="en-US" dirty="0"/>
              <a:t>- Number of columns: 10</a:t>
            </a:r>
          </a:p>
          <a:p>
            <a:pPr marL="0" indent="0">
              <a:buNone/>
            </a:pPr>
            <a:r>
              <a:rPr lang="en-US" dirty="0"/>
              <a:t>- Data Types:</a:t>
            </a:r>
          </a:p>
          <a:p>
            <a:pPr marL="0" indent="0">
              <a:buNone/>
            </a:pPr>
            <a:r>
              <a:rPr lang="en-US" dirty="0"/>
              <a:t>  - Numeric: </a:t>
            </a:r>
            <a:r>
              <a:rPr lang="en-US" dirty="0" err="1"/>
              <a:t>Price_per_night</a:t>
            </a:r>
            <a:r>
              <a:rPr lang="en-US" dirty="0"/>
              <a:t>, Rating, </a:t>
            </a:r>
            <a:r>
              <a:rPr lang="en-US" dirty="0" err="1"/>
              <a:t>Number_of_Reviews</a:t>
            </a:r>
            <a:r>
              <a:rPr lang="en-US" dirty="0"/>
              <a:t>, </a:t>
            </a:r>
            <a:r>
              <a:rPr lang="en-US" dirty="0" err="1"/>
              <a:t>Star_Rating</a:t>
            </a:r>
            <a:r>
              <a:rPr lang="en-US" dirty="0"/>
              <a:t>, </a:t>
            </a:r>
            <a:r>
              <a:rPr lang="en-US" dirty="0" err="1"/>
              <a:t>Distance_from_CityCenter_km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- Categorical: </a:t>
            </a:r>
            <a:r>
              <a:rPr lang="en-US" dirty="0" err="1"/>
              <a:t>Hotel_Name</a:t>
            </a:r>
            <a:r>
              <a:rPr lang="en-US" dirty="0"/>
              <a:t>, Location, Amenities, </a:t>
            </a:r>
            <a:r>
              <a:rPr lang="en-US" dirty="0" err="1"/>
              <a:t>Room_Type</a:t>
            </a:r>
            <a:r>
              <a:rPr lang="en-US" dirty="0"/>
              <a:t>, Availability</a:t>
            </a:r>
          </a:p>
          <a:p>
            <a:pPr marL="0" indent="0">
              <a:buNone/>
            </a:pPr>
            <a:r>
              <a:rPr lang="en-US" dirty="0"/>
              <a:t>- Missing Values: None (all handled)</a:t>
            </a:r>
          </a:p>
          <a:p>
            <a:pPr marL="0" indent="0">
              <a:buNone/>
            </a:pPr>
            <a:r>
              <a:rPr lang="en-US" dirty="0"/>
              <a:t>- Duplicates: Removed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329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A4E0D-A157-29BD-581E-DD94A7D2E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1C2CE-7D41-F63A-18B1-F6532DF37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713" y="1855442"/>
            <a:ext cx="10515600" cy="33029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Corrected column names (removed spaces, standardized format)</a:t>
            </a:r>
          </a:p>
          <a:p>
            <a:pPr marL="0" indent="0">
              <a:buNone/>
            </a:pPr>
            <a:r>
              <a:rPr lang="en-US" dirty="0"/>
              <a:t>2. Filled missing numeric values with median</a:t>
            </a:r>
          </a:p>
          <a:p>
            <a:pPr marL="0" indent="0">
              <a:buNone/>
            </a:pPr>
            <a:r>
              <a:rPr lang="en-US" dirty="0"/>
              <a:t>3. Filled missing categorical values with mode</a:t>
            </a:r>
          </a:p>
          <a:p>
            <a:pPr marL="0" indent="0">
              <a:buNone/>
            </a:pPr>
            <a:r>
              <a:rPr lang="en-US" dirty="0"/>
              <a:t>4. Removed duplicates</a:t>
            </a:r>
          </a:p>
          <a:p>
            <a:pPr marL="0" indent="0">
              <a:buNone/>
            </a:pPr>
            <a:r>
              <a:rPr lang="en-US" dirty="0"/>
              <a:t>5. Converted data types where necessary</a:t>
            </a:r>
          </a:p>
          <a:p>
            <a:pPr marL="0" indent="0">
              <a:buNone/>
            </a:pPr>
            <a:r>
              <a:rPr lang="en-US" dirty="0"/>
              <a:t>6. Checked for special characters in numeric columns (none found)</a:t>
            </a:r>
          </a:p>
        </p:txBody>
      </p:sp>
    </p:spTree>
    <p:extLst>
      <p:ext uri="{BB962C8B-B14F-4D97-AF65-F5344CB8AC3E}">
        <p14:creationId xmlns:p14="http://schemas.microsoft.com/office/powerpoint/2010/main" val="679092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AD483-C90C-1355-3038-0E7B83AD6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Data Analysis (EDA) – 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EFD1E-9C55-9670-3FFD-2893CCD5B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Numeric Features:</a:t>
            </a:r>
            <a:endParaRPr lang="en-US" dirty="0"/>
          </a:p>
          <a:p>
            <a:r>
              <a:rPr lang="en-US" dirty="0" err="1"/>
              <a:t>Price_per_night</a:t>
            </a:r>
            <a:r>
              <a:rPr lang="en-US" dirty="0"/>
              <a:t>, Rating, </a:t>
            </a:r>
            <a:r>
              <a:rPr lang="en-US" dirty="0" err="1"/>
              <a:t>Number_of_Reviews</a:t>
            </a:r>
            <a:r>
              <a:rPr lang="en-US" dirty="0"/>
              <a:t>, </a:t>
            </a:r>
            <a:r>
              <a:rPr lang="en-US" dirty="0" err="1"/>
              <a:t>Star_Rating</a:t>
            </a:r>
            <a:r>
              <a:rPr lang="en-US" dirty="0"/>
              <a:t>, </a:t>
            </a:r>
            <a:r>
              <a:rPr lang="en-US" dirty="0" err="1"/>
              <a:t>Distance_from_CityCenter_km</a:t>
            </a:r>
            <a:endParaRPr lang="en-US" dirty="0"/>
          </a:p>
          <a:p>
            <a:r>
              <a:rPr lang="en-US" dirty="0"/>
              <a:t>Visualizations:</a:t>
            </a:r>
          </a:p>
          <a:p>
            <a:pPr lvl="1"/>
            <a:r>
              <a:rPr lang="en-US" dirty="0"/>
              <a:t>Histogram / Distribution Plot</a:t>
            </a:r>
          </a:p>
          <a:p>
            <a:pPr lvl="1"/>
            <a:r>
              <a:rPr lang="en-US" dirty="0"/>
              <a:t>Boxplot / Violin Plot</a:t>
            </a:r>
          </a:p>
          <a:p>
            <a:r>
              <a:rPr lang="en-US" b="1" dirty="0"/>
              <a:t>Categorical Features:</a:t>
            </a:r>
            <a:endParaRPr lang="en-US" dirty="0"/>
          </a:p>
          <a:p>
            <a:r>
              <a:rPr lang="en-US" dirty="0"/>
              <a:t>Location, </a:t>
            </a:r>
            <a:r>
              <a:rPr lang="en-US" dirty="0" err="1"/>
              <a:t>Room_Type</a:t>
            </a:r>
            <a:r>
              <a:rPr lang="en-US" dirty="0"/>
              <a:t>, Amenities, Availability</a:t>
            </a:r>
          </a:p>
          <a:p>
            <a:r>
              <a:rPr lang="en-US" dirty="0"/>
              <a:t>Visualizations:</a:t>
            </a:r>
          </a:p>
          <a:p>
            <a:pPr lvl="1"/>
            <a:r>
              <a:rPr lang="en-US" dirty="0" err="1"/>
              <a:t>Countplot</a:t>
            </a:r>
            <a:r>
              <a:rPr lang="en-US" dirty="0"/>
              <a:t> / Bar Chart / Pie Chart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255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F945E-99D0-DFCD-0CB6-707E45CAB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Data Analysis (EDA) – Bivariate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FCCED-90F7-CDD5-2B7B-37F290795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530" y="1972641"/>
            <a:ext cx="10515600" cy="2945158"/>
          </a:xfrm>
        </p:spPr>
        <p:txBody>
          <a:bodyPr/>
          <a:lstStyle/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Price vs Rating → Scatter plot</a:t>
            </a:r>
          </a:p>
          <a:p>
            <a:r>
              <a:rPr lang="en-US" dirty="0"/>
              <a:t>Price vs Location → Boxplot</a:t>
            </a:r>
          </a:p>
          <a:p>
            <a:r>
              <a:rPr lang="en-US" dirty="0"/>
              <a:t>Rating vs Amenities → Bar plot (mean rating by amenities)</a:t>
            </a:r>
          </a:p>
          <a:p>
            <a:r>
              <a:rPr lang="en-US" dirty="0"/>
              <a:t>Correlation Heatmap of numeric features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477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80DEA-F7A4-D543-530D-2A0A8DBF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Business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5FF25-F016-D0D4-FAB7-180A3DBBF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591" y="1825625"/>
            <a:ext cx="10515600" cy="338247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Which city has the most expensive hotels?</a:t>
            </a:r>
          </a:p>
          <a:p>
            <a:pPr marL="0" indent="0">
              <a:buNone/>
            </a:pPr>
            <a:r>
              <a:rPr lang="en-US" dirty="0"/>
              <a:t>2. Do higher-star hotels have better ratings?</a:t>
            </a:r>
          </a:p>
          <a:p>
            <a:pPr marL="0" indent="0">
              <a:buNone/>
            </a:pPr>
            <a:r>
              <a:rPr lang="en-US" dirty="0"/>
              <a:t>3. What is the relationship between price and distance from city center?</a:t>
            </a:r>
          </a:p>
          <a:p>
            <a:pPr marL="0" indent="0">
              <a:buNone/>
            </a:pPr>
            <a:r>
              <a:rPr lang="en-US" dirty="0"/>
              <a:t>4. Which amenities lead to higher ratings?</a:t>
            </a:r>
          </a:p>
          <a:p>
            <a:pPr marL="0" indent="0">
              <a:buNone/>
            </a:pPr>
            <a:r>
              <a:rPr lang="en-US" dirty="0"/>
              <a:t>5. Are there affordable hotels with high ratings?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574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7891C-439A-CC9A-F7D7-AE15D16EA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Insights /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49137-8EF3-1CFE-78EB-C4BD8FA5E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592" y="1815686"/>
            <a:ext cx="10515600" cy="35315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- Hotels in Miami have the highest average prices</a:t>
            </a:r>
          </a:p>
          <a:p>
            <a:pPr marL="0" indent="0">
              <a:buNone/>
            </a:pPr>
            <a:r>
              <a:rPr lang="en-US" dirty="0"/>
              <a:t>- Hotels with Pool and Breakfast amenities tend to have higher ratings</a:t>
            </a:r>
          </a:p>
          <a:p>
            <a:pPr marL="0" indent="0">
              <a:buNone/>
            </a:pPr>
            <a:r>
              <a:rPr lang="en-US" dirty="0"/>
              <a:t>- Price increases slightly with distance from city center in some cities</a:t>
            </a:r>
          </a:p>
          <a:p>
            <a:pPr marL="0" indent="0">
              <a:buNone/>
            </a:pPr>
            <a:r>
              <a:rPr lang="en-US" dirty="0"/>
              <a:t>- Deluxe and Suite rooms are significantly higher priced than Standard rooms</a:t>
            </a:r>
          </a:p>
          <a:p>
            <a:pPr marL="0" indent="0">
              <a:buNone/>
            </a:pPr>
            <a:r>
              <a:rPr lang="en-US" dirty="0"/>
              <a:t>- Affordable hotels (Price &lt; 150) with rating &gt; 4.0 exist – good options for budget travelers</a:t>
            </a:r>
          </a:p>
        </p:txBody>
      </p:sp>
    </p:spTree>
    <p:extLst>
      <p:ext uri="{BB962C8B-B14F-4D97-AF65-F5344CB8AC3E}">
        <p14:creationId xmlns:p14="http://schemas.microsoft.com/office/powerpoint/2010/main" val="3733521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2FDC-3343-D4F1-19C8-6D67983D4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ACABF-43E2-14B0-4114-6ADBEA8EA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39071"/>
          </a:xfrm>
        </p:spPr>
        <p:txBody>
          <a:bodyPr/>
          <a:lstStyle/>
          <a:p>
            <a:r>
              <a:rPr lang="en-US" dirty="0"/>
              <a:t> Dataset analysis shows key patterns in hotel pricing, ratings, and amenities</a:t>
            </a:r>
          </a:p>
          <a:p>
            <a:r>
              <a:rPr lang="en-US" dirty="0"/>
              <a:t> Decision-makers can identify high-value hotels for marketing or investment</a:t>
            </a:r>
          </a:p>
          <a:p>
            <a:r>
              <a:rPr lang="en-US" dirty="0"/>
              <a:t> Synthetic dataset demonstrates workflow of cleaning, EDA, and interpretation</a:t>
            </a:r>
          </a:p>
          <a:p>
            <a:r>
              <a:rPr lang="en-US" dirty="0"/>
              <a:t> Challenges faced: Data preparation, visualization choices, handling missing values (simulated)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849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00F76-7D16-8207-0BD3-DEB5E9081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0" y="2343012"/>
            <a:ext cx="10638183" cy="1771788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476037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704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Calibri Light (Headings)</vt:lpstr>
      <vt:lpstr>Office Theme</vt:lpstr>
      <vt:lpstr>Project Title: Hotel Accommodations Data Analysis Your Name: Vadlamuri Sohan Aravind Background: MBA in Data Science  </vt:lpstr>
      <vt:lpstr>About Me</vt:lpstr>
      <vt:lpstr>Problem Statement / Use Case</vt:lpstr>
      <vt:lpstr>Web Scraping / Dataset Info</vt:lpstr>
      <vt:lpstr>Data Summary</vt:lpstr>
      <vt:lpstr>Data Cleaning Steps</vt:lpstr>
      <vt:lpstr>Exploratory Data Analysis (EDA) – Univariate Analysis</vt:lpstr>
      <vt:lpstr>Exploratory Data Analysis (EDA) – Bivariate Analysis</vt:lpstr>
      <vt:lpstr>Key Business Questions</vt:lpstr>
      <vt:lpstr>Insights / Interpretation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Gangula Vijayalakshmi</dc:creator>
  <cp:lastModifiedBy>Gangula Vijayalakshmi</cp:lastModifiedBy>
  <cp:revision>2</cp:revision>
  <dcterms:created xsi:type="dcterms:W3CDTF">2026-01-12T12:32:56Z</dcterms:created>
  <dcterms:modified xsi:type="dcterms:W3CDTF">2026-01-12T12:42:16Z</dcterms:modified>
</cp:coreProperties>
</file>